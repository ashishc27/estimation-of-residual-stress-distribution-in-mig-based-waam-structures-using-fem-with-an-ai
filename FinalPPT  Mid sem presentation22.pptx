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2" r:id="rId2"/>
    <p:sldId id="257" r:id="rId3"/>
    <p:sldId id="258" r:id="rId4"/>
    <p:sldId id="352" r:id="rId5"/>
    <p:sldId id="263" r:id="rId6"/>
    <p:sldId id="264" r:id="rId7"/>
    <p:sldId id="265" r:id="rId8"/>
    <p:sldId id="266" r:id="rId9"/>
    <p:sldId id="267" r:id="rId10"/>
    <p:sldId id="337" r:id="rId11"/>
    <p:sldId id="359" r:id="rId12"/>
    <p:sldId id="271" r:id="rId13"/>
    <p:sldId id="35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773" autoAdjust="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4:16:50.4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4:22:54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24438,'6378'2793'0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9975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FA1B5-90EB-4661-644A-65CC36A12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2A9ED-3A13-4B28-A6CE-4318CA588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8336F-DB5D-3D86-8722-510935167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20A8B-BF67-FB81-1A30-E3897531E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90240-FB32-48CB-9900-DF4ADE9BDAE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88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90240-FB32-48CB-9900-DF4ADE9BDAE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019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918CC-A257-54C1-D44D-1D03367E7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E83C3-3094-19AC-D94F-E7CAB8BE7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DEF67-B31F-0EC0-303F-37279CC1A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04BD6-11B7-15E0-3264-50AB8E887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2CD5DA-ECC3-B3D8-2774-A47D33684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C70352-3484-C067-AA23-7EC2DA5A8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0402-9095-4B52-AB35-8BF7EE542E19}" type="datetime1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5389F7-4459-11DA-C085-314BCF790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Thesis Proposal Seminar | Vinod Kumar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26998D-B0D1-D2CF-9ED0-F9BF10FE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506C3-A028-4FFA-A7EF-3BDF83DAF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6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7EF0A-1B57-322D-0458-46C68EB38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0B25A-4DC7-21E3-5AB1-72D1085A4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FAFB9-A6DE-F5A4-2883-EA3E7A1E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538A0-5FBD-4846-8D16-3494C5690791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BA345-AF2F-9969-AD9F-A4D6FCC3D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Thesis Proposal Seminar | Vinod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8ADE7-7674-5D88-DD29-5C57E99E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506C3-A028-4FFA-A7EF-3BDF83DAF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842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customXml" Target="../ink/ink2.xml"/><Relationship Id="rId4" Type="http://schemas.openxmlformats.org/officeDocument/2006/relationships/image" Target="../media/image18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1C9823-C8B4-9D6B-2A74-6BE0626A6B0D}"/>
              </a:ext>
            </a:extLst>
          </p:cNvPr>
          <p:cNvSpPr txBox="1"/>
          <p:nvPr/>
        </p:nvSpPr>
        <p:spPr>
          <a:xfrm>
            <a:off x="1274617" y="3013370"/>
            <a:ext cx="9642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Estimation of Residual Stress Distribution in MIG-Based WAAM  Wall Structures Using FEM with an AI-Surrogate Model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93F4AA-9231-3B17-A8A9-06CCD9E51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89" y="306939"/>
            <a:ext cx="1819072" cy="1881379"/>
          </a:xfrm>
          <a:prstGeom prst="rect">
            <a:avLst/>
          </a:prstGeom>
        </p:spPr>
      </p:pic>
      <p:pic>
        <p:nvPicPr>
          <p:cNvPr id="8" name="Picture 7" descr="A group of triangles on a black background&#10;&#10;AI-generated content may be incorrect.">
            <a:extLst>
              <a:ext uri="{FF2B5EF4-FFF2-40B4-BE49-F238E27FC236}">
                <a16:creationId xmlns:a16="http://schemas.microsoft.com/office/drawing/2014/main" id="{15740F01-183A-E6BF-AAFE-27825C3AB1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929" y="293748"/>
            <a:ext cx="2570441" cy="1881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C0B798-B751-7960-6FB1-007DDBBBB73C}"/>
              </a:ext>
            </a:extLst>
          </p:cNvPr>
          <p:cNvSpPr txBox="1"/>
          <p:nvPr/>
        </p:nvSpPr>
        <p:spPr>
          <a:xfrm>
            <a:off x="2743200" y="2386087"/>
            <a:ext cx="6207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Project presentation for mid semester evaluation</a:t>
            </a:r>
            <a:br>
              <a:rPr lang="en-US" dirty="0"/>
            </a:br>
            <a:r>
              <a:rPr lang="en-US" dirty="0"/>
              <a:t>on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BA66C0-C55A-2800-3D80-B145608808D8}"/>
              </a:ext>
            </a:extLst>
          </p:cNvPr>
          <p:cNvSpPr txBox="1"/>
          <p:nvPr/>
        </p:nvSpPr>
        <p:spPr>
          <a:xfrm>
            <a:off x="1302060" y="3852880"/>
            <a:ext cx="25337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Presented by</a:t>
            </a:r>
            <a:br>
              <a:rPr lang="en-US" dirty="0"/>
            </a:br>
            <a:r>
              <a:rPr lang="en-US" dirty="0"/>
              <a:t>Ashish Chaudhary</a:t>
            </a:r>
          </a:p>
          <a:p>
            <a:r>
              <a:rPr lang="en-US" dirty="0"/>
              <a:t>Entry No. 2025mem1022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B600B3-BA17-D3E5-02FE-ED4F26C07BB0}"/>
              </a:ext>
            </a:extLst>
          </p:cNvPr>
          <p:cNvSpPr txBox="1"/>
          <p:nvPr/>
        </p:nvSpPr>
        <p:spPr>
          <a:xfrm>
            <a:off x="9111784" y="3788569"/>
            <a:ext cx="15191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Supervised by</a:t>
            </a:r>
            <a:br>
              <a:rPr lang="en-US" dirty="0"/>
            </a:br>
            <a:r>
              <a:rPr lang="en-US" dirty="0"/>
              <a:t>Dr. Ravi Kant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AAC227-0352-DDCE-85E3-FCE96B1EAF0A}"/>
              </a:ext>
            </a:extLst>
          </p:cNvPr>
          <p:cNvSpPr txBox="1"/>
          <p:nvPr/>
        </p:nvSpPr>
        <p:spPr>
          <a:xfrm>
            <a:off x="4173038" y="5004263"/>
            <a:ext cx="38459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</a:t>
            </a:r>
          </a:p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466B9-C328-6516-2DA3-4BC5AA100048}"/>
              </a:ext>
            </a:extLst>
          </p:cNvPr>
          <p:cNvSpPr txBox="1"/>
          <p:nvPr/>
        </p:nvSpPr>
        <p:spPr>
          <a:xfrm>
            <a:off x="3835767" y="5327428"/>
            <a:ext cx="4520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Institute of Technology Ropar, Punjab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A76440-B256-830F-2493-5D10ACC8F2CC}"/>
              </a:ext>
            </a:extLst>
          </p:cNvPr>
          <p:cNvSpPr txBox="1"/>
          <p:nvPr/>
        </p:nvSpPr>
        <p:spPr>
          <a:xfrm>
            <a:off x="5082901" y="5604427"/>
            <a:ext cx="2026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22 September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0399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ea typeface="Cambria" pitchFamily="34" charset="-122"/>
                <a:cs typeface="Cambria" pitchFamily="34" charset="-120"/>
              </a:rPr>
              <a:t>Research Background &amp; Motivation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Wire Arc Additive Manufacturing (WAAM) builds near-net-shape metal parts by depositing weld beads layer-by-layer, offering high deposition rates (1–9 kg/h) and low equipment cost relative to powder-bed AM.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MIG based WAAM is attractive for large metallic structures due to its high deposition rate and comparatively low heat input among arc processes.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IN" sz="1400" dirty="0"/>
              <a:t>Layer deposition causes repeated reheating and remelting, while wall dimensions and interlayer dwell time control heat dissipation and thermal accumulation.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Repeated heating/cooling causes non-uniform thermal expansion and contraction, driving distortion and residual stress in the build.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146304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4630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MIG-WAAM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10800000">
            <a:off x="9061704" y="2130552"/>
            <a:ext cx="164592" cy="10058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2345436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7EDF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345436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 heat input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10800000">
            <a:off x="9061704" y="3012948"/>
            <a:ext cx="164592" cy="10058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3227832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7EDF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227832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Repeated thermal cycles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9061704" y="3895344"/>
            <a:ext cx="164592" cy="10058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4110228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7EDF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411022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Non-uniform heating / cooling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rot="10800000">
            <a:off x="9061704" y="4777740"/>
            <a:ext cx="164592" cy="10058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499262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7EDF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992624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Thermal expansion &amp; contraction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 rot="10800000">
            <a:off x="9061704" y="5660136"/>
            <a:ext cx="164592" cy="10058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5875020"/>
            <a:ext cx="5120640" cy="658368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6583680" y="587502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stress + distortion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ea typeface="Cambria" pitchFamily="34" charset="-122"/>
                <a:cs typeface="Cambria" pitchFamily="34" charset="-120"/>
              </a:rPr>
              <a:t>Why Residual Stress Is a Critical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5760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Residual stress: internal stress that remains in a part after the external heat source and mechanical constraints are removed.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 layer-by-layer WAAM, residual stress originates from steep temperature gradients between the molten pool and the surrounding solid, combined with constrained thermal expansion/contraction on cooling.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Governs dimensional stability, distortion, and fatigue/structural performance of the built part.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cannot be measured in advance, residual stress must be predicted before WAAM process parameters can be reliably optimised.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37960" y="150876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origin of residual stress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2148840"/>
            <a:ext cx="4434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21488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Heat source (arc)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03720" y="2606040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03720" y="2807208"/>
            <a:ext cx="4434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8072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Molten pool formation and Thermal Expansion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03720" y="3264408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3465576"/>
            <a:ext cx="4434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346557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Cooling &amp; solidification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03720" y="3922776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4123944"/>
            <a:ext cx="4434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41239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Thermal contraction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03720" y="4581144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4782312"/>
            <a:ext cx="4434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478231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by solid base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03720" y="5239512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03720" y="5440680"/>
            <a:ext cx="4434840" cy="457200"/>
          </a:xfrm>
          <a:prstGeom prst="roundRect">
            <a:avLst>
              <a:gd name="adj" fmla="val 12000"/>
            </a:avLst>
          </a:prstGeom>
          <a:solidFill>
            <a:srgbClr val="B3541E"/>
          </a:solidFill>
          <a:ln w="12700">
            <a:solidFill>
              <a:srgbClr val="B354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5440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stress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CEA81-DAFC-0489-EBBD-EB1AA1359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DAB2FD-6A53-0D2E-312E-8E371A155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4214E9-C9AD-1A8F-00CB-E0996B5E4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12</a:t>
            </a:r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E1951BE-E93C-86A4-1DEF-65154A642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872971"/>
              </p:ext>
            </p:extLst>
          </p:nvPr>
        </p:nvGraphicFramePr>
        <p:xfrm>
          <a:off x="71119" y="287797"/>
          <a:ext cx="12049761" cy="6113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41">
                  <a:extLst>
                    <a:ext uri="{9D8B030D-6E8A-4147-A177-3AD203B41FA5}">
                      <a16:colId xmlns:a16="http://schemas.microsoft.com/office/drawing/2014/main" val="362237653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258691163"/>
                    </a:ext>
                  </a:extLst>
                </a:gridCol>
                <a:gridCol w="1789893">
                  <a:extLst>
                    <a:ext uri="{9D8B030D-6E8A-4147-A177-3AD203B41FA5}">
                      <a16:colId xmlns:a16="http://schemas.microsoft.com/office/drawing/2014/main" val="3432741134"/>
                    </a:ext>
                  </a:extLst>
                </a:gridCol>
                <a:gridCol w="2589396">
                  <a:extLst>
                    <a:ext uri="{9D8B030D-6E8A-4147-A177-3AD203B41FA5}">
                      <a16:colId xmlns:a16="http://schemas.microsoft.com/office/drawing/2014/main" val="364294808"/>
                    </a:ext>
                  </a:extLst>
                </a:gridCol>
                <a:gridCol w="3057831">
                  <a:extLst>
                    <a:ext uri="{9D8B030D-6E8A-4147-A177-3AD203B41FA5}">
                      <a16:colId xmlns:a16="http://schemas.microsoft.com/office/drawing/2014/main" val="368188472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3849523020"/>
                    </a:ext>
                  </a:extLst>
                </a:gridCol>
              </a:tblGrid>
              <a:tr h="50791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S. No.</a:t>
                      </a:r>
                    </a:p>
                  </a:txBody>
                  <a:tcPr marL="72000" marR="72000" marT="0" marB="3600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Author(s) / Year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Material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Methodology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Results / Key findings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Research Gaps / Limitations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824405"/>
                  </a:ext>
                </a:extLst>
              </a:tr>
              <a:tr h="1825496">
                <a:tc>
                  <a:txBody>
                    <a:bodyPr/>
                    <a:lstStyle/>
                    <a:p>
                      <a:pPr algn="ctr"/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 i="0" u="none" strike="noStrike" baseline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IN" sz="100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Schauenberg</a:t>
                      </a:r>
                      <a:r>
                        <a:rPr lang="en-IN" sz="10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et al</a:t>
                      </a:r>
                      <a:r>
                        <a:rPr lang="en-IN" sz="8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 (2024)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400"/>
                        </a:spcAft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Base metal: ASTM A36 mild steel plate, 350×150×6.3 mm (GMAW T-joint, not a WAAM wall)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ABAQUS FEM: Goldak heat flux (GHF) via DFLUX subroutine at 3 different starting points , prescribed weld temperature (PWT) via element birth/death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Combined GHF+PWT hybrid model proposed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Validation via 4 K-type thermocouples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GHF_P1/P2 average error 4.14%/3.64% vs. thermocouples but poor prediction of  fusion-zone shape and longest computation time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PWT alone: 30.46% peak-temperature error, 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Combined GHF+PWT model: improved fusion-zone/HAZ correlation using only 15.04% of GHF_P1's computation time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IN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[Author-stated] Neither Goldak nor PWT alone was fully satisfactory — motivated the hybrid model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[Inferred] T-joint GMAW weld, not a multilayer WAAM wall , no residual stress reported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[Inferred] No AI/ML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42260"/>
                  </a:ext>
                </a:extLst>
              </a:tr>
              <a:tr h="1540495">
                <a:tc>
                  <a:txBody>
                    <a:bodyPr/>
                    <a:lstStyle/>
                    <a:p>
                      <a:pPr algn="ctr"/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0" i="0" u="none" strike="noStrike" baseline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10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Gupta &amp; Mulik (2024)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Wire: mild steel filler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Substrate: mild steel plate, 120×80×8 mm; 4 layers × 2 mm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ANSYS transient thermal FEA; Goldak double-ellipsoid heat source (Q=1800 W, </a:t>
                      </a:r>
                      <a:r>
                        <a:rPr lang="el-GR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η=0.83)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 K-type thermocouples at 0, 6, 12, 18 mm from bead centreline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Max. temperature 2125.8 ℉ at Layer-3, dropping to 2035.6 ℉ at Layer-4 (radiative loss)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Peak-to-peak relative error 13.77% at point E, reducing to 4.76% by 4th peak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[Author-stated] </a:t>
                      </a:r>
                      <a:r>
                        <a:rPr lang="en-US" sz="1000" dirty="0" err="1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Idealised</a:t>
                      </a: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assumptions: constant torch speed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[Inferred] Only temperature — residual stress not computed despite thermo-mechanical module available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[Inferred] Mild steel only; Inconel not investigated; no AI/ML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304479"/>
                  </a:ext>
                </a:extLst>
              </a:tr>
              <a:tr h="2239099">
                <a:tc>
                  <a:txBody>
                    <a:bodyPr/>
                    <a:lstStyle/>
                    <a:p>
                      <a:pPr algn="ctr"/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100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Gogulraj</a:t>
                      </a:r>
                      <a:r>
                        <a:rPr lang="en-IN" sz="10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&amp; Rajamurugan (2026)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Wire: IN-625 (Inconel-625)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Substrate: mild steel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CMT-WAAM single-pass beads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CMT-based WAAM; RSM + ANN optimisation of wire feed rate &amp; travel speed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Bead width, height, dilution measured; 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Optical microscopy, XRD phase analysis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Residual stress via portable X-ray diffractometer (surface, near-bead)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ANN (R² = 0.9574 for bead height)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RSM(R² = 0.9969 for bead height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IN-625 – WFR 6200 mm/min → 4.95% dilution, 4.98×6.31 mm bead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IN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Residual stress (compressive)IN-625 −392 </a:t>
                      </a:r>
                      <a:r>
                        <a:rPr lang="en-IN" sz="1000" dirty="0" err="1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Mpa</a:t>
                      </a:r>
                      <a:endParaRPr lang="en-IN" sz="1000" dirty="0">
                        <a:solidFill>
                          <a:srgbClr val="20242B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[Author-stated] Only single-pass bead-on-plate geometry; not a full wall structure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[Inferred] Residual stress measured only at the surface by XRD — no destructive (hole-drilling/contour) cross-check</a:t>
                      </a:r>
                    </a:p>
                    <a:p>
                      <a:pPr marL="137160" indent="-137160" algn="l">
                        <a:spcAft>
                          <a:spcPts val="40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solidFill>
                            <a:srgbClr val="2024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[Inferred] ANN used for bead geometry only, not integrated with a physics-based FEM thermal model (no FEM+AI surrogate)</a:t>
                      </a:r>
                    </a:p>
                  </a:txBody>
                  <a:tcPr marL="720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07392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02BE3C5-E5D9-62F8-56AD-31EDD745D5FF}"/>
              </a:ext>
            </a:extLst>
          </p:cNvPr>
          <p:cNvSpPr txBox="1"/>
          <p:nvPr/>
        </p:nvSpPr>
        <p:spPr>
          <a:xfrm>
            <a:off x="0" y="37792"/>
            <a:ext cx="2299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 — LITERATURE REVIEW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415807-4095-C6D2-5DA2-CA15FAF1DADC}"/>
              </a:ext>
            </a:extLst>
          </p:cNvPr>
          <p:cNvSpPr txBox="1"/>
          <p:nvPr/>
        </p:nvSpPr>
        <p:spPr>
          <a:xfrm>
            <a:off x="11724640" y="6570203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4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266368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Synthesis: What Has Been Achieved?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97480" cy="2788920"/>
          </a:xfrm>
          <a:prstGeom prst="roundRect">
            <a:avLst>
              <a:gd name="adj" fmla="val 2712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64208"/>
            <a:ext cx="457200" cy="45720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/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WAAM PROCESS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70048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Process parameters (current, travel speed, wire feed </a:t>
            </a:r>
            <a:r>
              <a:rPr lang="en-US" sz="108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rate,voltage</a:t>
            </a:r>
            <a:r>
              <a:rPr lang="en-US" sz="10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 strongly influence thermal history and bead geometry.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[Lambiase 2022; Pereira 2024]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19272" y="1463040"/>
            <a:ext cx="2697480" cy="2788920"/>
          </a:xfrm>
          <a:prstGeom prst="roundRect">
            <a:avLst>
              <a:gd name="adj" fmla="val 2712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664208"/>
            <a:ext cx="457200" cy="45720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/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02152" y="2212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02152" y="2670048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Goldak-type heat sources reliably predict temperature fields and can be extended toward thermo-mechanical behaviour.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3502152" y="3840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[Cadiou 2020; Schauenberg 2024; Gupta &amp; Mulik 2025]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81344" y="1463040"/>
            <a:ext cx="2697480" cy="2788920"/>
          </a:xfrm>
          <a:prstGeom prst="roundRect">
            <a:avLst>
              <a:gd name="adj" fmla="val 2712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1664208"/>
            <a:ext cx="457200" cy="45720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/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64224" y="2212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MICROSTRUCTURE / HARDNESS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64224" y="2670048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Thermal cycling control grain morphology and hardness; act as an effective thermal-control parameter.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364224" y="3840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[Cheepu &amp; Kantumuchu 2023; Chukenova 2026]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43416" y="1463040"/>
            <a:ext cx="2697480" cy="2788920"/>
          </a:xfrm>
          <a:prstGeom prst="roundRect">
            <a:avLst>
              <a:gd name="adj" fmla="val 2712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1664208"/>
            <a:ext cx="457200" cy="45720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244584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/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26296" y="2212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/ DATA-DRIVEN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26296" y="2670048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Residual-stress prediction not yet addressed.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57200" y="452628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accent4">
              <a:lumMod val="50000"/>
            </a:schemeClr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663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" y="502920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Physics + Accuracy  —  but computationally expensive 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45262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B3541E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663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00800" y="502920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Speed + Fast prediction  —  but dependent on the quality/coverage of the training dataset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complementary trade-off motivates a hybrid FEM–AI approach.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 — RESEARCH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Identified Research Gap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4F7FC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08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FEM-based WAAM thermal modelling [Cadiou 2020; Gupta &amp; Mulik 2025]</a:t>
            </a:r>
            <a:endParaRPr lang="en-US" sz="1130" dirty="0"/>
          </a:p>
          <a:p>
            <a:pPr marL="171450" indent="-171450">
              <a:lnSpc>
                <a:spcPct val="108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Goldak / hybrid heat-source implementations [Schauenberg 2024]</a:t>
            </a:r>
            <a:endParaRPr lang="en-US" sz="1130" dirty="0"/>
          </a:p>
          <a:p>
            <a:pPr marL="171450" indent="-171450">
              <a:lnSpc>
                <a:spcPct val="108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Heat-input → microstructure → hardness relationships [Cheepu &amp; </a:t>
            </a:r>
            <a:r>
              <a:rPr lang="en-US" sz="113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Kantumuchu</a:t>
            </a:r>
            <a:r>
              <a:rPr lang="en-US" sz="11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2023; Chukenova 2026]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DF3EE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06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13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 computational cost of repeated  FEM simulation</a:t>
            </a:r>
            <a:endParaRPr lang="en-US" sz="1130" dirty="0"/>
          </a:p>
          <a:p>
            <a:pPr marL="171450" indent="-171450">
              <a:lnSpc>
                <a:spcPct val="106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1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AI/data-driven work targets geometry &amp; hardness</a:t>
            </a:r>
            <a:endParaRPr lang="en-US" sz="1130" dirty="0"/>
          </a:p>
          <a:p>
            <a:pPr marL="171450" indent="-171450">
              <a:lnSpc>
                <a:spcPct val="106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1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 FEM–AI  integration for prediction of residual stress found in reviewed literature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57200" y="4709160"/>
            <a:ext cx="11247120" cy="1600200"/>
          </a:xfrm>
          <a:prstGeom prst="roundRect">
            <a:avLst>
              <a:gd name="adj" fmla="val 5714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846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CENTRAL RESEARCH GAP (as identified from the reviewed literature)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i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“There is a need for a validated hybrid FEM–AI framework that retains the physics-based capability of FEM while providing rapid residual-stress prediction for MIG-based WAAM wall structure.”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 — RESEARCH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Residual stress in MIG-based WAAM is governed by complex, nonlinear thermal and mechanical interactions. Although FEM can provide physics-based predictions, repeated high-fidelity simulations are computationally expensive. Conversely, AI models offer rapid predictions but may lack physics-based generalisation.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Therefore, a hybrid FEM–AI surrogate framework is proposed to achieve both predictive accuracy and computational efficiency for residual-stress prediction in WAAM wall structure.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92240" y="1600200"/>
            <a:ext cx="5212080" cy="1051560"/>
          </a:xfrm>
          <a:prstGeom prst="roundRect">
            <a:avLst>
              <a:gd name="adj" fmla="val 6957"/>
            </a:avLst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FEM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0299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Accurate but expensive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15400" y="2697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+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92240" y="310896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B3541E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3200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Fast but data-dependent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15400" y="4206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92240" y="45262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2C6E49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4617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HYBRID FEM–AI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50109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Physics + Speed + Accuracy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 — PROPOSED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66928" cy="566928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15087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4F7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508760"/>
            <a:ext cx="10104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1.Develop a transient thermo-mechanical FEM model of MIG-based WAAM Inconel  wall structures.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566928" cy="566928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78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2532888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4F7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532888"/>
            <a:ext cx="10104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2.Implement and calibrate a moving heat-source (e.g. Goldak double-ellipsoidal model) using process parameters and experimental  data.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02736"/>
            <a:ext cx="566928" cy="566928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027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3557016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4F7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557016"/>
            <a:ext cx="10104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3.Predict temperature history and residual-stress distribution under selected WAAM process conditions.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626864"/>
            <a:ext cx="566928" cy="566928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626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88720" y="4581144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4F7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5650992"/>
            <a:ext cx="566928" cy="566928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650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88720" y="5657625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4F7FC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r>
              <a:rPr lang="en-US" sz="1350" dirty="0">
                <a:ea typeface="Calibri" pitchFamily="34" charset="-122"/>
                <a:cs typeface="Calibri" pitchFamily="34" charset="-120"/>
              </a:rPr>
              <a:t>        5.Generate a reliable FEM dataset and develop an AI/ML surrogate model for rapid residual-stress prediction.</a:t>
            </a:r>
            <a:endParaRPr lang="en-US" sz="1350" dirty="0"/>
          </a:p>
          <a:p>
            <a:r>
              <a:rPr lang="en-IN" sz="1350" dirty="0"/>
              <a:t>                    </a:t>
            </a:r>
          </a:p>
        </p:txBody>
      </p:sp>
      <p:sp>
        <p:nvSpPr>
          <p:cNvPr id="23" name="Text 21"/>
          <p:cNvSpPr/>
          <p:nvPr/>
        </p:nvSpPr>
        <p:spPr>
          <a:xfrm>
            <a:off x="1508760" y="4563331"/>
            <a:ext cx="10104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4.Experimentally validate the predicted residual stresses using an appropriate destructive or non-destructive measurement technique.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 — PROPOSED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Proposed Hybrid FEM–AI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E7EDFA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51755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WAAM process parameters</a:t>
            </a:r>
            <a:endParaRPr lang="en-US" sz="1030" dirty="0"/>
          </a:p>
          <a:p>
            <a:pPr algn="ctr"/>
            <a:r>
              <a:rPr lang="en-US" sz="10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current, travel speed, wire feed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rate,voltage</a:t>
            </a:r>
            <a:r>
              <a:rPr lang="en-US" sz="10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457200" y="2221992"/>
            <a:ext cx="5394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</a:rPr>
              <a:t>↓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50008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E7EDFA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350008"/>
            <a:ext cx="51755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Thermal FEM — moving heat source / Goldak model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5394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82696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E7EDFA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282696"/>
            <a:ext cx="51755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history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57200" y="4087368"/>
            <a:ext cx="5394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15384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E7EDFA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215384"/>
            <a:ext cx="51755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FEM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457200" y="5020056"/>
            <a:ext cx="5394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5148072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E7EDFA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5148072"/>
            <a:ext cx="51755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Residual-stress distribution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309360" y="1417320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BEEE4"/>
          </a:solidFill>
          <a:ln w="9525">
            <a:solidFill>
              <a:srgbClr val="B354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1417320"/>
            <a:ext cx="51755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FEM dataset generation &amp; pre-processing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309360" y="2221992"/>
            <a:ext cx="5394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350008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BEEE4"/>
          </a:solidFill>
          <a:ln w="9525">
            <a:solidFill>
              <a:srgbClr val="B354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2350008"/>
            <a:ext cx="51755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/ ML surrogate model — training, validation, testing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6309360" y="3154680"/>
            <a:ext cx="5394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</a:rPr>
              <a:t>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282696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BEEE4"/>
          </a:solidFill>
          <a:ln w="9525">
            <a:solidFill>
              <a:srgbClr val="B354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3282696"/>
            <a:ext cx="51755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Rapid residual-stress prediction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6309360" y="4087368"/>
            <a:ext cx="5394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</a:rPr>
              <a:t>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4215384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BEEE4"/>
          </a:solidFill>
          <a:ln w="9525">
            <a:solidFill>
              <a:srgbClr val="B354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4215384"/>
            <a:ext cx="51755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validation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6309360" y="5020056"/>
            <a:ext cx="5394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</a:rPr>
              <a:t>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5148072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BEEE4"/>
          </a:solidFill>
          <a:ln w="9525">
            <a:solidFill>
              <a:srgbClr val="B354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5148072"/>
            <a:ext cx="51755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correction / final validation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4370832" y="6304279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FEM stage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65092" y="6328662"/>
            <a:ext cx="201168" cy="201168"/>
          </a:xfrm>
          <a:prstGeom prst="rect">
            <a:avLst/>
          </a:prstGeom>
          <a:solidFill>
            <a:srgbClr val="E7EDFA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surrogate stage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08776" y="6309360"/>
            <a:ext cx="201168" cy="201168"/>
          </a:xfrm>
          <a:prstGeom prst="rect">
            <a:avLst/>
          </a:prstGeom>
          <a:solidFill>
            <a:srgbClr val="FBEEE4"/>
          </a:solidFill>
          <a:ln w="9525">
            <a:solidFill>
              <a:srgbClr val="B3541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8456C20-01E1-DF57-4DD1-588F834C9CF0}"/>
              </a:ext>
            </a:extLst>
          </p:cNvPr>
          <p:cNvCxnSpPr>
            <a:cxnSpLocks/>
          </p:cNvCxnSpPr>
          <p:nvPr/>
        </p:nvCxnSpPr>
        <p:spPr>
          <a:xfrm>
            <a:off x="6004560" y="1819656"/>
            <a:ext cx="0" cy="3890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25AE070-1384-C1B3-5C7C-F9046F7D397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852160" y="1819656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65BB5D6-ED83-9D4E-454F-BABF4D42E6E8}"/>
              </a:ext>
            </a:extLst>
          </p:cNvPr>
          <p:cNvCxnSpPr>
            <a:cxnSpLocks/>
          </p:cNvCxnSpPr>
          <p:nvPr/>
        </p:nvCxnSpPr>
        <p:spPr>
          <a:xfrm flipH="1">
            <a:off x="5852160" y="5709920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AD457DE-0D5D-77F2-C9A8-89F0D656448E}"/>
              </a:ext>
            </a:extLst>
          </p:cNvPr>
          <p:cNvCxnSpPr>
            <a:cxnSpLocks/>
          </p:cNvCxnSpPr>
          <p:nvPr/>
        </p:nvCxnSpPr>
        <p:spPr>
          <a:xfrm>
            <a:off x="6137910" y="1996440"/>
            <a:ext cx="0" cy="16230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F693124-D99E-B0D9-1E9E-23F18CF97F5C}"/>
              </a:ext>
            </a:extLst>
          </p:cNvPr>
          <p:cNvCxnSpPr>
            <a:cxnSpLocks/>
          </p:cNvCxnSpPr>
          <p:nvPr/>
        </p:nvCxnSpPr>
        <p:spPr>
          <a:xfrm flipH="1">
            <a:off x="6004560" y="3619500"/>
            <a:ext cx="133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8024F6D-85B0-2E62-42B5-3F3AA409FE82}"/>
              </a:ext>
            </a:extLst>
          </p:cNvPr>
          <p:cNvCxnSpPr>
            <a:cxnSpLocks/>
          </p:cNvCxnSpPr>
          <p:nvPr/>
        </p:nvCxnSpPr>
        <p:spPr>
          <a:xfrm>
            <a:off x="6137910" y="1996440"/>
            <a:ext cx="171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F15DB477-5FCB-9FA5-8A09-66220DF76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640189"/>
              </p:ext>
            </p:extLst>
          </p:nvPr>
        </p:nvGraphicFramePr>
        <p:xfrm>
          <a:off x="2" y="676658"/>
          <a:ext cx="12198068" cy="5925014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33970">
                  <a:extLst>
                    <a:ext uri="{9D8B030D-6E8A-4147-A177-3AD203B41FA5}">
                      <a16:colId xmlns:a16="http://schemas.microsoft.com/office/drawing/2014/main" val="362712209"/>
                    </a:ext>
                  </a:extLst>
                </a:gridCol>
                <a:gridCol w="840229">
                  <a:extLst>
                    <a:ext uri="{9D8B030D-6E8A-4147-A177-3AD203B41FA5}">
                      <a16:colId xmlns:a16="http://schemas.microsoft.com/office/drawing/2014/main" val="1556474680"/>
                    </a:ext>
                  </a:extLst>
                </a:gridCol>
                <a:gridCol w="870335">
                  <a:extLst>
                    <a:ext uri="{9D8B030D-6E8A-4147-A177-3AD203B41FA5}">
                      <a16:colId xmlns:a16="http://schemas.microsoft.com/office/drawing/2014/main" val="500437652"/>
                    </a:ext>
                  </a:extLst>
                </a:gridCol>
                <a:gridCol w="872357">
                  <a:extLst>
                    <a:ext uri="{9D8B030D-6E8A-4147-A177-3AD203B41FA5}">
                      <a16:colId xmlns:a16="http://schemas.microsoft.com/office/drawing/2014/main" val="2412324595"/>
                    </a:ext>
                  </a:extLst>
                </a:gridCol>
                <a:gridCol w="942004">
                  <a:extLst>
                    <a:ext uri="{9D8B030D-6E8A-4147-A177-3AD203B41FA5}">
                      <a16:colId xmlns:a16="http://schemas.microsoft.com/office/drawing/2014/main" val="2873053037"/>
                    </a:ext>
                  </a:extLst>
                </a:gridCol>
                <a:gridCol w="943229">
                  <a:extLst>
                    <a:ext uri="{9D8B030D-6E8A-4147-A177-3AD203B41FA5}">
                      <a16:colId xmlns:a16="http://schemas.microsoft.com/office/drawing/2014/main" val="2387669520"/>
                    </a:ext>
                  </a:extLst>
                </a:gridCol>
                <a:gridCol w="1544809">
                  <a:extLst>
                    <a:ext uri="{9D8B030D-6E8A-4147-A177-3AD203B41FA5}">
                      <a16:colId xmlns:a16="http://schemas.microsoft.com/office/drawing/2014/main" val="3523440041"/>
                    </a:ext>
                  </a:extLst>
                </a:gridCol>
                <a:gridCol w="960219">
                  <a:extLst>
                    <a:ext uri="{9D8B030D-6E8A-4147-A177-3AD203B41FA5}">
                      <a16:colId xmlns:a16="http://schemas.microsoft.com/office/drawing/2014/main" val="438802451"/>
                    </a:ext>
                  </a:extLst>
                </a:gridCol>
                <a:gridCol w="1235904">
                  <a:extLst>
                    <a:ext uri="{9D8B030D-6E8A-4147-A177-3AD203B41FA5}">
                      <a16:colId xmlns:a16="http://schemas.microsoft.com/office/drawing/2014/main" val="297400576"/>
                    </a:ext>
                  </a:extLst>
                </a:gridCol>
                <a:gridCol w="1146788">
                  <a:extLst>
                    <a:ext uri="{9D8B030D-6E8A-4147-A177-3AD203B41FA5}">
                      <a16:colId xmlns:a16="http://schemas.microsoft.com/office/drawing/2014/main" val="1782138110"/>
                    </a:ext>
                  </a:extLst>
                </a:gridCol>
                <a:gridCol w="708224">
                  <a:extLst>
                    <a:ext uri="{9D8B030D-6E8A-4147-A177-3AD203B41FA5}">
                      <a16:colId xmlns:a16="http://schemas.microsoft.com/office/drawing/2014/main" val="3784300448"/>
                    </a:ext>
                  </a:extLst>
                </a:gridCol>
              </a:tblGrid>
              <a:tr h="709017">
                <a:tc rowSpan="2">
                  <a:txBody>
                    <a:bodyPr/>
                    <a:lstStyle/>
                    <a:p>
                      <a:r>
                        <a:rPr lang="en-IN" b="1" dirty="0"/>
                        <a:t>                 </a:t>
                      </a: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Timeline</a:t>
                      </a:r>
                    </a:p>
                    <a:p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</a:t>
                      </a:r>
                    </a:p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00" baseline="30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Third Mid Semester</a:t>
                      </a:r>
                      <a:endParaRPr lang="en-US" sz="1800" b="1" kern="100" baseline="30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00" baseline="30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Third End Semester</a:t>
                      </a:r>
                      <a:endParaRPr lang="en-IN" sz="1800" b="1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 prst="cross"/>
                      <a:lightRig rig="flood" dir="t"/>
                    </a:cell3D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Fourth Mid Semester</a:t>
                      </a:r>
                      <a:endParaRPr lang="en-IN" sz="1200" b="1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 prst="cross"/>
                      <a:lightRig rig="flood" dir="t"/>
                    </a:cell3D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Fourth Semester</a:t>
                      </a:r>
                      <a:endParaRPr lang="en-IN" sz="1400" b="1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 prst="cross"/>
                      <a:lightRig rig="flood" dir="t"/>
                    </a:cell3D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Fourth Semester</a:t>
                      </a:r>
                      <a:endParaRPr lang="en-IN" sz="1400" b="1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 prst="cross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264681830"/>
                  </a:ext>
                </a:extLst>
              </a:tr>
              <a:tr h="504674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cell3D prstMaterial="dkEdge">
                      <a:bevel prst="cross"/>
                      <a:lightRig rig="flood" dir="t"/>
                    </a:cell3D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July 2026  - September 2026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 prst="cross"/>
                      <a:lightRig rig="flood" dir="t"/>
                    </a:cell3D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September 2026  - November 2026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 prst="cross"/>
                      <a:lightRig rig="flood" dir="t"/>
                    </a:cell3D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December 2026 – January 2027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 prst="cross"/>
                      <a:lightRig rig="flood" dir="t"/>
                    </a:cell3D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January 2027  </a:t>
                      </a:r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March 2027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 prst="cross"/>
                      <a:lightRig rig="flood" dir="t"/>
                    </a:cell3D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March 2027  -  June 2027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 prst="cross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862580305"/>
                  </a:ext>
                </a:extLst>
              </a:tr>
              <a:tr h="549204">
                <a:tc>
                  <a:txBody>
                    <a:bodyPr/>
                    <a:lstStyle/>
                    <a:p>
                      <a:pPr marL="0" marR="18034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review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pPr marL="0" marR="18034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5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n>
                          <a:noFill/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>
                          <a:outerShdw blurRad="50800" dist="50800" dir="5400000" sx="109000" sy="109000" algn="ctr" rotWithShape="0">
                            <a:srgbClr val="000000"/>
                          </a:outerShdw>
                        </a:effectLst>
                        <a:highlight>
                          <a:srgbClr val="0000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n>
                          <a:noFill/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>
                          <a:outerShdw blurRad="50800" dist="50800" dir="5400000" sx="109000" sy="109000" algn="ctr" rotWithShape="0">
                            <a:srgbClr val="000000"/>
                          </a:outerShdw>
                        </a:effectLst>
                        <a:highlight>
                          <a:srgbClr val="0000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1586225"/>
                  </a:ext>
                </a:extLst>
              </a:tr>
              <a:tr h="384917">
                <a:tc>
                  <a:txBody>
                    <a:bodyPr/>
                    <a:lstStyle/>
                    <a:p>
                      <a:pPr marL="0" marR="18034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IN" sz="15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FEM Thermal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342124"/>
                  </a:ext>
                </a:extLst>
              </a:tr>
              <a:tr h="534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kumimoji="0" lang="en-IN" sz="15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EM Thermo-Mechanical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noFill/>
                        <a:effectLst>
                          <a:reflection stA="45000" endPos="65000" dist="38100" dir="5400000" sy="-100000" algn="bl" rotWithShape="0"/>
                        </a:effectLst>
                        <a:highlight>
                          <a:srgbClr val="00FFFF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noFill/>
                        <a:effectLst>
                          <a:reflection stA="45000" endPos="65000" dist="38100" dir="5400000" sy="-100000" algn="bl" rotWithShape="0"/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noFill/>
                        <a:effectLst>
                          <a:reflection stA="45000" endPos="65000" dist="38100" dir="5400000" sy="-100000" algn="bl" rotWithShape="0"/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noFill/>
                        <a:effectLst>
                          <a:reflection stA="45000" endPos="65000" dist="38100" dir="5400000" sy="-100000" algn="bl" rotWithShape="0"/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noFill/>
                        <a:effectLst>
                          <a:reflection stA="45000" endPos="65000" dist="38100" dir="5400000" sy="-100000" algn="bl" rotWithShape="0"/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n cap="sq">
                          <a:solidFill>
                            <a:srgbClr val="C189F7"/>
                          </a:solidFill>
                          <a:bevel/>
                        </a:ln>
                        <a:noFill/>
                        <a:effectLst>
                          <a:reflection stA="45000" endPos="65000" dist="38100" dir="5400000" sy="-100000" algn="bl" rotWithShape="0"/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noFill/>
                        <a:effectLst>
                          <a:reflection stA="45000" endPos="65000" dist="38100" dir="5400000" sy="-100000" algn="bl" rotWithShape="0"/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effectLst>
                          <a:reflection stA="45000" endPos="65000" dist="38100" dir="5400000" sy="-100000" algn="bl" rotWithShape="0"/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24295"/>
                  </a:ext>
                </a:extLst>
              </a:tr>
              <a:tr h="836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IN" sz="1500" b="0" i="0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xperiment</a:t>
                      </a:r>
                      <a:r>
                        <a:rPr lang="en-IN" sz="1500" b="0" i="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500" b="0" i="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Residual-Stress measurement</a:t>
                      </a:r>
                      <a:endParaRPr lang="en-IN" sz="1500" b="0" i="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b="0" i="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183922"/>
                  </a:ext>
                </a:extLst>
              </a:tr>
              <a:tr h="534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FEM Validation/</a:t>
                      </a:r>
                      <a:r>
                        <a:rPr lang="en-US" sz="1500" b="0" i="0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Callibration</a:t>
                      </a:r>
                      <a:endParaRPr lang="en-IN" sz="1500" b="0" i="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151966"/>
                  </a:ext>
                </a:extLst>
              </a:tr>
              <a:tr h="534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en-US" sz="1500" b="0" i="0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Surogate</a:t>
                      </a:r>
                      <a:r>
                        <a:rPr lang="en-US" sz="1500" b="0" i="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Model Development</a:t>
                      </a:r>
                      <a:endParaRPr lang="en-IN" sz="1500" b="0" i="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10621"/>
                  </a:ext>
                </a:extLst>
              </a:tr>
              <a:tr h="534360">
                <a:tc>
                  <a:txBody>
                    <a:bodyPr/>
                    <a:lstStyle/>
                    <a:p>
                      <a:pPr marL="0" marR="18034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kumimoji="0" lang="en-IN" sz="1500" b="0" i="0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ybrid</a:t>
                      </a:r>
                      <a:r>
                        <a:rPr kumimoji="0" lang="en-IN" sz="15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model 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072332"/>
                  </a:ext>
                </a:extLst>
              </a:tr>
              <a:tr h="534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IN" sz="1500" b="0" i="0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inal</a:t>
                      </a:r>
                      <a:r>
                        <a:rPr lang="en-IN" sz="1500" b="0" i="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Analysis and thesis/Publication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11813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20D4C1D-CE87-4798-86B0-C7A92655C788}"/>
                  </a:ext>
                </a:extLst>
              </p14:cNvPr>
              <p14:cNvContentPartPr/>
              <p14:nvPr/>
            </p14:nvContentPartPr>
            <p14:xfrm>
              <a:off x="-128016" y="1060416"/>
              <a:ext cx="360" cy="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20D4C1D-CE87-4798-86B0-C7A92655C7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37016" y="10514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27F6B79-3577-AD4A-F49B-32854E669723}"/>
                  </a:ext>
                </a:extLst>
              </p14:cNvPr>
              <p14:cNvContentPartPr/>
              <p14:nvPr/>
            </p14:nvContentPartPr>
            <p14:xfrm>
              <a:off x="-10466" y="676657"/>
              <a:ext cx="2296606" cy="10058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27F6B79-3577-AD4A-F49B-32854E6697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6570" y="670559"/>
                <a:ext cx="2308814" cy="1018036"/>
              </a:xfrm>
              <a:prstGeom prst="rect">
                <a:avLst/>
              </a:prstGeom>
            </p:spPr>
          </p:pic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588E001-DF0D-E56E-8E82-B6005B5ECBFB}"/>
              </a:ext>
            </a:extLst>
          </p:cNvPr>
          <p:cNvCxnSpPr>
            <a:cxnSpLocks/>
          </p:cNvCxnSpPr>
          <p:nvPr/>
        </p:nvCxnSpPr>
        <p:spPr>
          <a:xfrm>
            <a:off x="1240823" y="1375954"/>
            <a:ext cx="0" cy="2407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8D46F9D-A987-D4B2-D52E-474C47820E7E}"/>
              </a:ext>
            </a:extLst>
          </p:cNvPr>
          <p:cNvSpPr/>
          <p:nvPr/>
        </p:nvSpPr>
        <p:spPr>
          <a:xfrm>
            <a:off x="1768475" y="6643227"/>
            <a:ext cx="999746" cy="17022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44A464-7775-2F68-609D-EA6B65844AD3}"/>
              </a:ext>
            </a:extLst>
          </p:cNvPr>
          <p:cNvSpPr/>
          <p:nvPr/>
        </p:nvSpPr>
        <p:spPr>
          <a:xfrm>
            <a:off x="3036322" y="6646648"/>
            <a:ext cx="1173880" cy="17022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Progress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B12C2E-014D-CA8D-59D4-D3D53AB1A4F8}"/>
              </a:ext>
            </a:extLst>
          </p:cNvPr>
          <p:cNvSpPr/>
          <p:nvPr/>
        </p:nvSpPr>
        <p:spPr>
          <a:xfrm>
            <a:off x="4410998" y="6637317"/>
            <a:ext cx="999746" cy="1702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 Plan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BF5FEE0-F901-72ED-6298-A03EACD509C3}"/>
              </a:ext>
            </a:extLst>
          </p:cNvPr>
          <p:cNvSpPr/>
          <p:nvPr/>
        </p:nvSpPr>
        <p:spPr>
          <a:xfrm>
            <a:off x="6703504" y="2885228"/>
            <a:ext cx="3189515" cy="293914"/>
          </a:xfrm>
          <a:prstGeom prst="rightArrow">
            <a:avLst/>
          </a:prstGeom>
          <a:solidFill>
            <a:schemeClr val="tx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9EE70E4-831A-3013-7616-88573693A24F}"/>
              </a:ext>
            </a:extLst>
          </p:cNvPr>
          <p:cNvCxnSpPr>
            <a:cxnSpLocks/>
          </p:cNvCxnSpPr>
          <p:nvPr/>
        </p:nvCxnSpPr>
        <p:spPr>
          <a:xfrm>
            <a:off x="1328128" y="1093554"/>
            <a:ext cx="2620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028E914-0476-9ECC-5F10-2A413B455095}"/>
              </a:ext>
            </a:extLst>
          </p:cNvPr>
          <p:cNvSpPr/>
          <p:nvPr/>
        </p:nvSpPr>
        <p:spPr>
          <a:xfrm>
            <a:off x="-10466" y="895824"/>
            <a:ext cx="45719" cy="3368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DED15A-1B36-D1AA-DABA-7EBB99071A70}"/>
              </a:ext>
            </a:extLst>
          </p:cNvPr>
          <p:cNvCxnSpPr>
            <a:cxnSpLocks/>
          </p:cNvCxnSpPr>
          <p:nvPr/>
        </p:nvCxnSpPr>
        <p:spPr>
          <a:xfrm>
            <a:off x="12191998" y="2760453"/>
            <a:ext cx="0" cy="5434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66C4D-B235-690D-7D20-2F9F09026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D17DA-235D-71E2-D9D6-42D544629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6A1373-0EE0-EE8E-62BC-0B3EEF21A625}"/>
              </a:ext>
            </a:extLst>
          </p:cNvPr>
          <p:cNvSpPr txBox="1"/>
          <p:nvPr/>
        </p:nvSpPr>
        <p:spPr>
          <a:xfrm>
            <a:off x="4883020" y="56280"/>
            <a:ext cx="2425959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ea typeface="Cambria" pitchFamily="34" charset="-122"/>
                <a:cs typeface="Cambria" pitchFamily="34" charset="-120"/>
              </a:rPr>
              <a:t>5 - Proposed Work Plan</a:t>
            </a:r>
            <a:endParaRPr lang="en-US" sz="1400" b="1" dirty="0"/>
          </a:p>
          <a:p>
            <a:endParaRPr lang="en-IN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215687-06C8-09AF-36EA-E3A0360F9362}"/>
              </a:ext>
            </a:extLst>
          </p:cNvPr>
          <p:cNvSpPr txBox="1"/>
          <p:nvPr/>
        </p:nvSpPr>
        <p:spPr>
          <a:xfrm>
            <a:off x="11745694" y="6620619"/>
            <a:ext cx="2872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10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2777876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F0A2EE-5D87-940A-A8FD-EAD1E75C20AA}"/>
              </a:ext>
            </a:extLst>
          </p:cNvPr>
          <p:cNvSpPr txBox="1"/>
          <p:nvPr/>
        </p:nvSpPr>
        <p:spPr>
          <a:xfrm>
            <a:off x="4662895" y="344545"/>
            <a:ext cx="207380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6 - Conclusion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52410F-F0B2-2B27-97CE-29B931D57D52}"/>
              </a:ext>
            </a:extLst>
          </p:cNvPr>
          <p:cNvSpPr txBox="1"/>
          <p:nvPr/>
        </p:nvSpPr>
        <p:spPr>
          <a:xfrm>
            <a:off x="569167" y="1317076"/>
            <a:ext cx="9827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WAAM thermal cycling and heat accumulation significantly influence residual stress and distortion.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930DBA-EBBB-53E6-A59C-F2A57869C225}"/>
              </a:ext>
            </a:extLst>
          </p:cNvPr>
          <p:cNvSpPr txBox="1"/>
          <p:nvPr/>
        </p:nvSpPr>
        <p:spPr>
          <a:xfrm>
            <a:off x="569167" y="1958055"/>
            <a:ext cx="86917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FEM provides physics-based residual-stress prediction but is computationally expensive.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4E8E62-D07F-DF81-1F61-D44CFFA71E98}"/>
              </a:ext>
            </a:extLst>
          </p:cNvPr>
          <p:cNvSpPr txBox="1"/>
          <p:nvPr/>
        </p:nvSpPr>
        <p:spPr>
          <a:xfrm>
            <a:off x="569167" y="2566605"/>
            <a:ext cx="9159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AI surrogate models can enable rapid prediction but require reliable FEM-generated datasets.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511C48-28AD-F3E8-958F-2EA443418584}"/>
              </a:ext>
            </a:extLst>
          </p:cNvPr>
          <p:cNvSpPr txBox="1"/>
          <p:nvPr/>
        </p:nvSpPr>
        <p:spPr>
          <a:xfrm>
            <a:off x="569167" y="3245365"/>
            <a:ext cx="10078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A research gap exists in FEM–AI integration for residual-stress prediction in MIG-WAAM Wall structure.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05203-C13E-146A-036F-816474B476BC}"/>
              </a:ext>
            </a:extLst>
          </p:cNvPr>
          <p:cNvSpPr txBox="1"/>
          <p:nvPr/>
        </p:nvSpPr>
        <p:spPr>
          <a:xfrm>
            <a:off x="11625943" y="6484776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11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985670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Key Literature Cited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928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+mj-lt"/>
              <a:buAutoNum type="arabicPeriod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Cadiou, S., Courtois, M., Carin, M., Berckmans, W., Le Masson, P. (2020). 3D heat transfer, fluid flow and electromagnetic model for cold metal transfer wire arc additive manufacturing (CMT-WAAM). Additive Manufacturing, 36, 101541.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+mj-lt"/>
              <a:buAutoNum type="arabicPeriod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Schauenberg, A.S., Rodríguez, R.Q., Almeida, D.T., Zanon, J.E., Cunha, E., Lopes, A.P.O., Tonatto, M.L.P. (2024). Evaluating thermal gradient in GMAW welding process with a novel heat source model: numerical and experimental approach. Engineering Structures, 318, 118724.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+mj-lt"/>
              <a:buAutoNum type="arabicPeriod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Lambiase, F., Scipioni, S.I., Paoletti, A. (2022). Accurate prediction of the bead geometry in wire arc additive manufacturing process. International Journal of Advanced Manufacturing Technology, 119, 7629–7639.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+mj-lt"/>
              <a:buAutoNum type="arabicPeriod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Pereira, A.S., Costenaro, F., Gonçalves e Silva, R.H., Marques, C. (2024). Control strategy for geometry at the start and end of bead in WAAM steel walls using a custom GMAW DF power source (MIG-AD). International Journal of Advanced Manufacturing Technology, 135, 5341–5352.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+mj-lt"/>
              <a:buAutoNum type="arabicPeriod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Chukenova, E., Nugman, E., Kanagat, B., Kentaikyzy, B.A., Mustafa, A., Alexander, K., Jaskari, M., Jarvenpaa, A., Khatir, O., Hamada, A.S. (2026). Optimization of electric arc parameters for structural changes in parts obtained using WAAM technology. International Journal of Advanced Manufacturing Technology, 145, 3405–3415.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+mj-lt"/>
              <a:buAutoNum type="arabicPeriod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Cheepu, M., Kantumuchu, V.C. (2023). Numerical simulations of the effect of heat input on microstructural growth for MIG-based wire arc additive manufacturing of Inconel 718. Transactions of the Indian Institute of Metals, 76(2), 473–481.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+mj-lt"/>
              <a:buAutoNum type="arabicPeriod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Gupta, D.K., Mulik, R.S. (2025). Numerical simulation and experimental investigation of temperature distribution during the wire arc additive manufacturing (WAAM) process. Progress in Additive Manufacturing, 10, 631–645.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6BD284-EB62-F819-5D94-A4E5118406B4}"/>
              </a:ext>
            </a:extLst>
          </p:cNvPr>
          <p:cNvSpPr txBox="1"/>
          <p:nvPr/>
        </p:nvSpPr>
        <p:spPr>
          <a:xfrm>
            <a:off x="2941834" y="2644170"/>
            <a:ext cx="63083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/>
              <a:t>THANK YOU</a:t>
            </a:r>
            <a:endParaRPr lang="en-IN" sz="9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2DF78D-BF7C-4B47-C178-9D92992F9FB5}"/>
              </a:ext>
            </a:extLst>
          </p:cNvPr>
          <p:cNvSpPr txBox="1"/>
          <p:nvPr/>
        </p:nvSpPr>
        <p:spPr>
          <a:xfrm>
            <a:off x="11733832" y="6516660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13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358787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</TotalTime>
  <Words>1909</Words>
  <Application>Microsoft Office PowerPoint</Application>
  <PresentationFormat>Widescreen</PresentationFormat>
  <Paragraphs>236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Ashish Chaudhary</cp:lastModifiedBy>
  <cp:revision>26</cp:revision>
  <dcterms:created xsi:type="dcterms:W3CDTF">2026-09-14T20:43:44Z</dcterms:created>
  <dcterms:modified xsi:type="dcterms:W3CDTF">2026-09-22T05:47:09Z</dcterms:modified>
</cp:coreProperties>
</file>